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5FBE25-1727-4163-8A03-7FA45426880E}">
  <a:tblStyle styleId="{CB5FBE25-1727-4163-8A03-7FA4542688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66908db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066908db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6e88e68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6e88e68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Couldnt find the right numbers for HSV to work so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Settled on using 14x14px templates to match the cell interiors to hazards and using HSV as a tie breaker instead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1a893e9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1a893e9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tried q-learning +BFS, tried A* but weren’t able to find a working solution without coding in </a:t>
            </a:r>
            <a:r>
              <a:rPr lang="en"/>
              <a:t>heuristics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Q-learning +BFS was too scared, looking back our Q table probably wasn’t high enough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066908db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066908db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Cells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1a893e9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1a893e9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6e88e68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76e88e68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7e559ccf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87e559ccf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6bdc765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6bdc765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6e88e68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6e88e68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6e88e68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76e88e68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Just do a commentary over what the agent is doing while we run it</a:t>
            </a:r>
            <a:endParaRPr sz="18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.2 cells/turn means we spent a lot of time waiting, not necessarily a bad thing, meant the agent is thinking.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Replanning efficiency shows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066908db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066908db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066908d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066908d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66908d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066908d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66908db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66908d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76e88e68d_12_0)">
  <p:cSld name="Title and body (g3d76e88e68d_12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gif"/><Relationship Id="rId4" Type="http://schemas.openxmlformats.org/officeDocument/2006/relationships/image" Target="../media/image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gif"/><Relationship Id="rId4" Type="http://schemas.openxmlformats.org/officeDocument/2006/relationships/image" Target="../media/image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9: Silent Cartographer</a:t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Elena Orozco, Hussain Ali, Emaad Rahman, Amir Nazemi, Kevin Santhosh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Constraints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83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Solve the maze with different</a:t>
            </a:r>
            <a:r>
              <a:rPr lang="en"/>
              <a:t> hazard types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Agent has no prior map, must build knowledge from scratch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Receives only local feedback via TurnResult each turn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see ahead of itself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Must navigate from start to goal efficiently</a:t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Hazard types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Fire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Kills agent on contact; pits rotate every turn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Confusion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Inverts movement directions for following turn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Teleport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Red, green, orange, purple — relocates the agent if stepped on.</a:t>
            </a:r>
            <a:endParaRPr/>
          </a:p>
        </p:txBody>
      </p:sp>
      <p:cxnSp>
        <p:nvCxnSpPr>
          <p:cNvPr id="72" name="Google Shape;72;p15"/>
          <p:cNvCxnSpPr/>
          <p:nvPr/>
        </p:nvCxnSpPr>
        <p:spPr>
          <a:xfrm>
            <a:off x="4566600" y="1223875"/>
            <a:ext cx="10800" cy="32736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Hazard Classification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8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 approach used HSV color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template matching + HSV for tie-breaker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14x14px templates of each hazard created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Compares each cell interior against template and returns best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Labels each hazard type with different color squares</a:t>
            </a:r>
            <a:endParaRPr>
              <a:solidFill>
                <a:srgbClr val="9900FF"/>
              </a:solidFill>
            </a:endParaRPr>
          </a:p>
        </p:txBody>
      </p:sp>
      <p:pic>
        <p:nvPicPr>
          <p:cNvPr id="79" name="Google Shape;79;p16" title="maze_detected_hazar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650" y="810100"/>
            <a:ext cx="3664800" cy="36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a combination of </a:t>
            </a:r>
            <a:r>
              <a:rPr lang="en">
                <a:solidFill>
                  <a:srgbClr val="980000"/>
                </a:solidFill>
              </a:rPr>
              <a:t>D* Lite and Evolutionary Computing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Genetic Algorithm evolves neural network weights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D* Lite handles optimal pathfinding and replanning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NN manages the hazard specific decisions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Fire timings and decisions to either pass or avoid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Teleporters whether using the teleport is efficient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Confusion 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Hazard Handling </a:t>
            </a:r>
            <a:endParaRPr/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311700" y="12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{CB5FBE25-1727-4163-8A03-7FA45426880E}</a:tableStyleId>
              </a:tblPr>
              <a:tblGrid>
                <a:gridCol w="4260300"/>
                <a:gridCol w="4260300"/>
              </a:tblGrid>
              <a:tr h="11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Fire </a:t>
                      </a:r>
                      <a:r>
                        <a:rPr lang="en"/>
                        <a:t>Hazard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Cells marked 'death' in known map after dying to it.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Agents will explore beyond by waiting for fire to pass if it </a:t>
                      </a: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determines it is more optimal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94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Confusion </a:t>
                      </a:r>
                      <a:r>
                        <a:rPr lang="en"/>
                        <a:t>Hazard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Detected withTurnResult.is_confused flag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Agent tracks confused_turns_left counter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All outgoing actions are inverted to compensate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Teleporter Hazard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Detected when position jumps unexpectedly vs intended action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Teleport_map built dynamically and are saved as bidirectional</a:t>
                      </a:r>
                      <a:endParaRPr sz="1150">
                        <a:solidFill>
                          <a:srgbClr val="1A2E38"/>
                        </a:solidFill>
                      </a:endParaRPr>
                    </a:p>
                    <a:p>
                      <a:pPr indent="-301625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8"/>
                        </a:buClr>
                        <a:buSzPts val="1150"/>
                        <a:buChar char="●"/>
                      </a:pPr>
                      <a:r>
                        <a:rPr lang="en" sz="1150">
                          <a:solidFill>
                            <a:srgbClr val="1A2E38"/>
                          </a:solidFill>
                        </a:rPr>
                        <a:t>D* Lite routes through beneficial teleporters to shorten path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Evolutionary Learning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Although training times are higher, it has the potential to produce a more </a:t>
            </a:r>
            <a:r>
              <a:rPr lang="en"/>
              <a:t>adaptable</a:t>
            </a:r>
            <a:r>
              <a:rPr lang="en"/>
              <a:t> result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Maze is partially observable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has no map and cannot see ahead of itself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Genetic algorithm evaluates entire episodes as fitness </a:t>
            </a:r>
            <a:r>
              <a:rPr lang="en"/>
              <a:t>scores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stronger learning signal than per step RL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 evolves NN weights globally across a population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gradient -&gt; wont get stuck in local optima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phase fitness function: first rewards exploration coverage, then minimizes turns and deaths once the goal is rechable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&amp; Performance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4260300" cy="3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Pop of 80 with 60 gens </a:t>
            </a:r>
            <a:r>
              <a:rPr lang="en"/>
              <a:t>training</a:t>
            </a:r>
            <a:r>
              <a:rPr lang="en"/>
              <a:t> episodes with immigrants that prioritize exploration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7000 turns per episode due to compute time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Greedy exploration decays over time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Reward Function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+120,000 for reaching goal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-750 x deaths 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-15 x (wall hits)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-3 x (visit count) -&gt; penalize revisiting cells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+300 x (Manhattan distance to goal) -&gt; moving closer to goal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Optimizing mode enabled with different weights once goal is reached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Has different weights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Neural Network features — 43 inputs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4870900" y="1147000"/>
            <a:ext cx="38988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Observations: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Early random exploration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Faster completion time as gens pass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Increasing map knowledge across episodes via immigrants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258800" y="13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Training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99" y="710800"/>
            <a:ext cx="8100201" cy="4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Training Cont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98" y="1262376"/>
            <a:ext cx="8374001" cy="323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3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4860625" y="1103324"/>
            <a:ext cx="3785700" cy="502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4937825" y="1103325"/>
            <a:ext cx="16332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Bonus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7746125" y="1103325"/>
            <a:ext cx="812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Beta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26" name="Google Shape;126;p23"/>
          <p:cNvGrpSpPr/>
          <p:nvPr/>
        </p:nvGrpSpPr>
        <p:grpSpPr>
          <a:xfrm>
            <a:off x="4860625" y="1645225"/>
            <a:ext cx="3785700" cy="663600"/>
            <a:chOff x="4855475" y="1705725"/>
            <a:chExt cx="3785700" cy="663600"/>
          </a:xfrm>
        </p:grpSpPr>
        <p:sp>
          <p:nvSpPr>
            <p:cNvPr id="127" name="Google Shape;127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8" name="Google Shape;128;p23"/>
            <p:cNvSpPr txBox="1"/>
            <p:nvPr/>
          </p:nvSpPr>
          <p:spPr>
            <a:xfrm>
              <a:off x="4937825" y="1806075"/>
              <a:ext cx="16332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Exploration Eff.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9" name="Google Shape;129;p23"/>
            <p:cNvSpPr txBox="1"/>
            <p:nvPr/>
          </p:nvSpPr>
          <p:spPr>
            <a:xfrm>
              <a:off x="7674025" y="1806075"/>
              <a:ext cx="8850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0.21 c/t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30" name="Google Shape;130;p23"/>
          <p:cNvGrpSpPr/>
          <p:nvPr/>
        </p:nvGrpSpPr>
        <p:grpSpPr>
          <a:xfrm>
            <a:off x="4860625" y="2347975"/>
            <a:ext cx="3785700" cy="663600"/>
            <a:chOff x="4855475" y="1705725"/>
            <a:chExt cx="3785700" cy="663600"/>
          </a:xfrm>
        </p:grpSpPr>
        <p:sp>
          <p:nvSpPr>
            <p:cNvPr id="131" name="Google Shape;131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32" name="Google Shape;132;p23"/>
            <p:cNvSpPr txBox="1"/>
            <p:nvPr/>
          </p:nvSpPr>
          <p:spPr>
            <a:xfrm>
              <a:off x="4937825" y="1806075"/>
              <a:ext cx="19014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Map Completeness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33" name="Google Shape;133;p23"/>
            <p:cNvSpPr txBox="1"/>
            <p:nvPr/>
          </p:nvSpPr>
          <p:spPr>
            <a:xfrm>
              <a:off x="7746125" y="1806075"/>
              <a:ext cx="8127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69.2 %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34" name="Google Shape;134;p23"/>
          <p:cNvGrpSpPr/>
          <p:nvPr/>
        </p:nvGrpSpPr>
        <p:grpSpPr>
          <a:xfrm>
            <a:off x="4860625" y="3050725"/>
            <a:ext cx="3785700" cy="663600"/>
            <a:chOff x="4855475" y="1705725"/>
            <a:chExt cx="3785700" cy="663600"/>
          </a:xfrm>
        </p:grpSpPr>
        <p:sp>
          <p:nvSpPr>
            <p:cNvPr id="135" name="Google Shape;135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36" name="Google Shape;136;p23"/>
            <p:cNvSpPr txBox="1"/>
            <p:nvPr/>
          </p:nvSpPr>
          <p:spPr>
            <a:xfrm>
              <a:off x="4937825" y="1806075"/>
              <a:ext cx="17982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Replanning Eff.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37" name="Google Shape;137;p23"/>
            <p:cNvSpPr txBox="1"/>
            <p:nvPr/>
          </p:nvSpPr>
          <p:spPr>
            <a:xfrm>
              <a:off x="7746125" y="1806075"/>
              <a:ext cx="8127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60 %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38" name="Google Shape;138;p23"/>
          <p:cNvSpPr/>
          <p:nvPr/>
        </p:nvSpPr>
        <p:spPr>
          <a:xfrm rot="10800000">
            <a:off x="4860625" y="3753475"/>
            <a:ext cx="3785700" cy="663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4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4942975" y="3853825"/>
            <a:ext cx="1301400" cy="46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Learning Eff.</a:t>
            </a:r>
            <a:endParaRPr sz="15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7751275" y="3853825"/>
            <a:ext cx="812700" cy="46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95.4 %</a:t>
            </a:r>
            <a:endParaRPr sz="15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488700" y="1103325"/>
            <a:ext cx="3785700" cy="502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65900" y="1103325"/>
            <a:ext cx="812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374200" y="1103325"/>
            <a:ext cx="812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Beta</a:t>
            </a:r>
            <a:endParaRPr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4" name="Google Shape;144;p23"/>
          <p:cNvGrpSpPr/>
          <p:nvPr/>
        </p:nvGrpSpPr>
        <p:grpSpPr>
          <a:xfrm>
            <a:off x="488700" y="1645225"/>
            <a:ext cx="3785700" cy="663600"/>
            <a:chOff x="4855475" y="1705725"/>
            <a:chExt cx="3785700" cy="663600"/>
          </a:xfrm>
        </p:grpSpPr>
        <p:sp>
          <p:nvSpPr>
            <p:cNvPr id="145" name="Google Shape;145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6" name="Google Shape;146;p23"/>
            <p:cNvSpPr txBox="1"/>
            <p:nvPr/>
          </p:nvSpPr>
          <p:spPr>
            <a:xfrm>
              <a:off x="4937825" y="1806075"/>
              <a:ext cx="13014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Success Rate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7" name="Google Shape;147;p23"/>
            <p:cNvSpPr txBox="1"/>
            <p:nvPr/>
          </p:nvSpPr>
          <p:spPr>
            <a:xfrm>
              <a:off x="7746125" y="1806075"/>
              <a:ext cx="8127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100 %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48" name="Google Shape;148;p23"/>
          <p:cNvGrpSpPr/>
          <p:nvPr/>
        </p:nvGrpSpPr>
        <p:grpSpPr>
          <a:xfrm>
            <a:off x="488700" y="2347975"/>
            <a:ext cx="3785700" cy="663600"/>
            <a:chOff x="4855475" y="1705725"/>
            <a:chExt cx="3785700" cy="663600"/>
          </a:xfrm>
        </p:grpSpPr>
        <p:sp>
          <p:nvSpPr>
            <p:cNvPr id="149" name="Google Shape;149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50" name="Google Shape;150;p23"/>
            <p:cNvSpPr txBox="1"/>
            <p:nvPr/>
          </p:nvSpPr>
          <p:spPr>
            <a:xfrm>
              <a:off x="4937825" y="1806075"/>
              <a:ext cx="15687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Avg Path Length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51" name="Google Shape;151;p23"/>
            <p:cNvSpPr txBox="1"/>
            <p:nvPr/>
          </p:nvSpPr>
          <p:spPr>
            <a:xfrm>
              <a:off x="7469375" y="1806075"/>
              <a:ext cx="10893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859 cells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52" name="Google Shape;152;p23"/>
          <p:cNvGrpSpPr/>
          <p:nvPr/>
        </p:nvGrpSpPr>
        <p:grpSpPr>
          <a:xfrm>
            <a:off x="488700" y="3050725"/>
            <a:ext cx="3785700" cy="663600"/>
            <a:chOff x="4855475" y="1705725"/>
            <a:chExt cx="3785700" cy="663600"/>
          </a:xfrm>
        </p:grpSpPr>
        <p:sp>
          <p:nvSpPr>
            <p:cNvPr id="153" name="Google Shape;153;p23"/>
            <p:cNvSpPr/>
            <p:nvPr/>
          </p:nvSpPr>
          <p:spPr>
            <a:xfrm>
              <a:off x="4855475" y="1705725"/>
              <a:ext cx="3785700" cy="663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4937825" y="1806075"/>
              <a:ext cx="13014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Avg Turns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7746125" y="1806075"/>
              <a:ext cx="812700" cy="46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2554</a:t>
              </a:r>
              <a:endParaRPr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56" name="Google Shape;156;p23"/>
          <p:cNvSpPr/>
          <p:nvPr/>
        </p:nvSpPr>
        <p:spPr>
          <a:xfrm rot="10800000">
            <a:off x="488700" y="3753475"/>
            <a:ext cx="3785700" cy="663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4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71050" y="3853825"/>
            <a:ext cx="1301400" cy="46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Death Rate</a:t>
            </a:r>
            <a:endParaRPr sz="15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379350" y="3853825"/>
            <a:ext cx="812700" cy="46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1.2/ep</a:t>
            </a:r>
            <a:endParaRPr sz="15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3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Demo</a:t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863" y="913161"/>
            <a:ext cx="7828275" cy="389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949351" cy="394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850" y="1017725"/>
            <a:ext cx="3949351" cy="394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676875" y="368850"/>
            <a:ext cx="3110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Episode 1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5642050" y="378975"/>
            <a:ext cx="232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Episode 2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25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 title="MAZE_1_ep0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75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/>
        </p:nvSpPr>
        <p:spPr>
          <a:xfrm>
            <a:off x="1169200" y="623875"/>
            <a:ext cx="2512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Episode 3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5359850" y="623875"/>
            <a:ext cx="2512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Episode 4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Episode 5 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925" y="589363"/>
            <a:ext cx="3964774" cy="396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